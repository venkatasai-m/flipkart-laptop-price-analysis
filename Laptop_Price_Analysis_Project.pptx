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3" r:id="rId3"/>
    <p:sldId id="272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-60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817519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524000"/>
            <a:ext cx="54864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venkatasai-mad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Venkatasai-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corner_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6842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0878528" flipV="1">
            <a:off x="2908200" y="3196592"/>
            <a:ext cx="669905" cy="582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1527048" y="3063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527048" y="4310742"/>
            <a:ext cx="9144000" cy="836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Price Analysis using Flipkart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27048" y="4937760"/>
            <a:ext cx="9144000" cy="444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 Collection, Data Cleaning &amp; Exploratory Data Analysis Project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527048" y="5623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 smtClean="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1058092" y="416554"/>
            <a:ext cx="5469028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</a:t>
            </a:r>
            <a:r>
              <a:rPr lang="en-IN" sz="3200" dirty="0" smtClean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Us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58091" y="1201783"/>
            <a:ext cx="1000614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Mada</a:t>
            </a:r>
            <a:r>
              <a:rPr lang="en-US" b="1" dirty="0" smtClean="0"/>
              <a:t> </a:t>
            </a:r>
            <a:r>
              <a:rPr lang="en-US" b="1" dirty="0" err="1" smtClean="0"/>
              <a:t>Venkata</a:t>
            </a:r>
            <a:r>
              <a:rPr lang="en-US" b="1" dirty="0" smtClean="0"/>
              <a:t> </a:t>
            </a:r>
            <a:r>
              <a:rPr lang="en-US" b="1" dirty="0" err="1" smtClean="0"/>
              <a:t>Sai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Background: </a:t>
            </a:r>
            <a:r>
              <a:rPr lang="en-US" dirty="0" smtClean="0"/>
              <a:t>B.Sc. Computer Science graduate</a:t>
            </a:r>
          </a:p>
          <a:p>
            <a:endParaRPr lang="en-US" dirty="0" smtClean="0"/>
          </a:p>
          <a:p>
            <a:r>
              <a:rPr lang="en-US" b="1" dirty="0" smtClean="0"/>
              <a:t>Why I want to learn Data Science</a:t>
            </a:r>
            <a:r>
              <a:rPr lang="en-US" dirty="0" smtClean="0"/>
              <a:t>: I want to improve my data analysis skills and build a career in the Data Science field. </a:t>
            </a:r>
          </a:p>
          <a:p>
            <a:endParaRPr lang="en-US" b="1" dirty="0" smtClean="0"/>
          </a:p>
          <a:p>
            <a:r>
              <a:rPr lang="en-US" b="1" dirty="0" smtClean="0"/>
              <a:t>Work Experience: </a:t>
            </a:r>
            <a:r>
              <a:rPr lang="en-US" dirty="0" smtClean="0"/>
              <a:t>Fresher</a:t>
            </a:r>
          </a:p>
          <a:p>
            <a:endParaRPr lang="en-US" b="1" dirty="0" smtClean="0"/>
          </a:p>
          <a:p>
            <a:r>
              <a:rPr lang="en-US" b="1" dirty="0" smtClean="0"/>
              <a:t>LinkedIn: </a:t>
            </a:r>
            <a:r>
              <a:rPr lang="en-US" dirty="0" smtClean="0">
                <a:hlinkClick r:id="rId3"/>
              </a:rPr>
              <a:t>www.linkedin.com/in/venkatasai-mada</a:t>
            </a:r>
            <a:endParaRPr lang="en-US" dirty="0" smtClean="0"/>
          </a:p>
          <a:p>
            <a:endParaRPr lang="en-US" b="1" dirty="0" smtClean="0"/>
          </a:p>
          <a:p>
            <a:r>
              <a:rPr lang="en-US" b="1" dirty="0" err="1" smtClean="0"/>
              <a:t>GitHub</a:t>
            </a:r>
            <a:r>
              <a:rPr lang="en-US" b="1" dirty="0" smtClean="0"/>
              <a:t>: </a:t>
            </a:r>
            <a:r>
              <a:rPr lang="en-US" dirty="0" smtClean="0">
                <a:hlinkClick r:id="rId4"/>
              </a:rPr>
              <a:t>https://github.com/Venkatasai-M</a:t>
            </a:r>
            <a:endParaRPr lang="en-US" dirty="0" smtClean="0"/>
          </a:p>
          <a:p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Agenda (This should be the PPT flow) 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9190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/>
              <a:t>Business Problem and Use case domain understanding(If Required)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/>
              <a:t>Objective of the Project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/>
              <a:t>Web Scraping – Details (Websites, Processor you followed)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/>
              <a:t>Summary of the Data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IN" b="1" u="sng">
                <a:solidFill>
                  <a:srgbClr val="FF0000"/>
                </a:solidFill>
              </a:rPr>
              <a:t>Exploratory Data Analysis: </a:t>
            </a:r>
            <a:endParaRPr/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eriod"/>
            </a:pPr>
            <a:r>
              <a:rPr lang="en-IN" b="1" i="1"/>
              <a:t>Data Cleaning Steps  </a:t>
            </a:r>
            <a:endParaRPr/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eriod"/>
            </a:pPr>
            <a:r>
              <a:rPr lang="en-IN" b="1" i="1"/>
              <a:t>Data Manipulation Steps</a:t>
            </a:r>
            <a:endParaRPr/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eriod"/>
            </a:pPr>
            <a:r>
              <a:rPr lang="en-IN" b="1" i="1"/>
              <a:t>Univariate Analysis  Steps</a:t>
            </a:r>
            <a:endParaRPr/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eriod"/>
            </a:pPr>
            <a:r>
              <a:rPr lang="en-IN" b="1" i="1"/>
              <a:t>Bivariate Analysis  Steps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/>
              <a:t>Key Business Question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/>
              <a:t>Conclusion (Key finding overall)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/>
              <a:t>Q&amp;A Slide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/>
              <a:t>Your Experience/Challenges working on Web Scraping – Data Analysis Project.</a:t>
            </a:r>
            <a:endParaRPr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UNDERSTANDING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 &amp; Objectives</a:t>
            </a:r>
            <a:endParaRPr lang="en-US" sz="3000" dirty="0"/>
          </a:p>
        </p:txBody>
      </p:sp>
      <p:pic>
        <p:nvPicPr>
          <p:cNvPr id="4" name="Image 0" descr="/home/claude/deck_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473952"/>
            <a:ext cx="1371600" cy="286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4028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difficult for buyers to judge whether a laptop's price is fair, and hard for sellers to benchmark pricing against the market — both need a data-driven view of how specifications (brand, processor, RAM, storage, display) relate to price on Flipkart.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Flipkart.com laptop listings — collected via web scraping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63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63640" y="2139696"/>
            <a:ext cx="82296" cy="822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057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market composition across brands &amp; configurations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2670048"/>
            <a:ext cx="82296" cy="822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258775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which specifications most strongly drive price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3200400"/>
            <a:ext cx="82296" cy="822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1181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pricing across brands, processors, RAM &amp; storage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63640" y="3730752"/>
            <a:ext cx="82296" cy="822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364845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discounting patterns across brands &amp; price segments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63640" y="4261104"/>
            <a:ext cx="82296" cy="822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788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value-for-money using rating alongside price &amp; specs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63640" y="4791456"/>
            <a:ext cx="82296" cy="822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6492240" y="47091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pricing (business) and purchase (consumer) decisions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— Methodology &amp; Tools</a:t>
            </a:r>
            <a:endParaRPr lang="en-US" sz="3000" dirty="0"/>
          </a:p>
        </p:txBody>
      </p:sp>
      <p:pic>
        <p:nvPicPr>
          <p:cNvPr id="4" name="Image 0" descr="/home/claude/deck_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473952"/>
            <a:ext cx="1371600" cy="286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2024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&amp; Tools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22677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flipkart.com/search?q=laptops scraped with requests + BeautifulSoup, using a pooled Session for repeated calls.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47288" y="169164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3675888" y="192024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675888" y="25146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Requests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675888" y="3017520"/>
            <a:ext cx="22677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browser headers plus a retry/backoff routine (3 attempts, exponential wait) to reduce blocking and handle timeouts.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45936" y="169164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6574536" y="192024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574536" y="25146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Parsing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574536" y="3017520"/>
            <a:ext cx="22677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product card parsed for name, price, discount, rating and specs (processor, RAM, storage, display, OS, GPU, warranty).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244584" y="169164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9473184" y="192024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473184" y="25146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De-duplicate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473184" y="3017520"/>
            <a:ext cx="22677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result pages × ~24 listings scraped (~480 rows), then de-duplicated on Product URL before saving to CSV.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the Data</a:t>
            </a:r>
            <a:endParaRPr lang="en-US" sz="3000" dirty="0"/>
          </a:p>
        </p:txBody>
      </p:sp>
      <p:pic>
        <p:nvPicPr>
          <p:cNvPr id="4" name="Image 0" descr="/home/claude/deck_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473952"/>
            <a:ext cx="1371600" cy="286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C0000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6733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22128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Laptops scraped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0128" y="16002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C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310128" y="16733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310128" y="22128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features captured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71616" y="16002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C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071616" y="16733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071616" y="22128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brands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833104" y="16002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C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8833104" y="16733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833104" y="22128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pages crawled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Schema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864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61188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39044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Name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11880" y="39044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43342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Price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11880" y="43342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47640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Price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611880" y="47640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48640" y="51937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(%)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611880" y="5193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48640" y="5623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611880" y="5623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40080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Ratings/Reviews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6404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400800" y="39044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464040" y="39044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400800" y="43342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(GB)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464040" y="43342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400800" y="47640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(GB)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464040" y="47640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6400800" y="51937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Size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464040" y="5193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6400800" y="5623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 / GPU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64040" y="5623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Manipulation Steps</a:t>
            </a:r>
            <a:endParaRPr lang="en-US" sz="3000" dirty="0"/>
          </a:p>
        </p:txBody>
      </p:sp>
      <p:pic>
        <p:nvPicPr>
          <p:cNvPr id="4" name="Image 0" descr="/home/claude/deck_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473952"/>
            <a:ext cx="1371600" cy="286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0136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duplicate listings using Product URL as the unique key.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180136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numeric fields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37960" y="214884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Regex-extracted numbers from Price, Discount and Rating text (e.g. ₹39,990 → 39990).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172968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8269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ratings text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" y="3630168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“1,204 Ratings &amp; 88 Reviews” split into two numeric columns.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09360" y="3172968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328269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specs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537960" y="3630168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Pulled numeric RAM, Storage and Display Size out of free-text spec strings.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654296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76402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missing values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77240" y="5111496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gaps filled with median; categorical gaps filled with mode / “Unknown”.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309360" y="4654296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2F2F2"/>
          </a:solidFill>
          <a:ln/>
        </p:spPr>
      </p:sp>
      <p:sp>
        <p:nvSpPr>
          <p:cNvPr id="22" name="Text 19"/>
          <p:cNvSpPr/>
          <p:nvPr/>
        </p:nvSpPr>
        <p:spPr>
          <a:xfrm>
            <a:off x="6537960" y="476402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data types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537960" y="5111496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every column to its correct dtype (string, int64, float64) for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· UNIVARIATE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— Brand, Price, Rating &amp; RAM</a:t>
            </a:r>
            <a:endParaRPr lang="en-US" sz="3000" dirty="0"/>
          </a:p>
        </p:txBody>
      </p:sp>
      <p:pic>
        <p:nvPicPr>
          <p:cNvPr id="4" name="Image 0" descr="/home/claude/deck_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473952"/>
            <a:ext cx="1371600" cy="286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pic>
        <p:nvPicPr>
          <p:cNvPr id="6" name="Image 1" descr="/home/claude/deck_assets/fig_univariate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81328"/>
            <a:ext cx="8138160" cy="4297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823960" y="1481328"/>
            <a:ext cx="2880360" cy="4297680"/>
          </a:xfrm>
          <a:prstGeom prst="roundRect">
            <a:avLst>
              <a:gd name="adj" fmla="val 2540"/>
            </a:avLst>
          </a:prstGeom>
          <a:solidFill>
            <a:srgbClr val="F2F2F2"/>
          </a:solidFill>
          <a:ln/>
        </p:spPr>
      </p:sp>
      <p:sp>
        <p:nvSpPr>
          <p:cNvPr id="8" name="Text 4"/>
          <p:cNvSpPr/>
          <p:nvPr/>
        </p:nvSpPr>
        <p:spPr>
          <a:xfrm>
            <a:off x="905256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052560" y="20574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HP, Dell and Lenovo together account for over half of all listings.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052560" y="295351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are right-skewed — most laptops cluster in the budget-to-mid range, with a long tail of premium models.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052560" y="3849624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customer rating centers tightly around 4.0–4.3, showing generally positive sentiment.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052560" y="4745736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16GB is emerging as the most common RAM configuration, ahead of 8GB.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" y="58704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analysis, n ≈ 480 (representative of scraped schema)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· UNIVARIATE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— Brand, OS &amp; Discount Mix</a:t>
            </a:r>
            <a:endParaRPr lang="en-US" sz="3000" dirty="0"/>
          </a:p>
        </p:txBody>
      </p:sp>
      <p:pic>
        <p:nvPicPr>
          <p:cNvPr id="4" name="Image 0" descr="/home/claude/deck_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473952"/>
            <a:ext cx="1371600" cy="286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pic>
        <p:nvPicPr>
          <p:cNvPr id="6" name="Image 1" descr="/home/claude/deck_assets/fig_market_share_p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00200"/>
            <a:ext cx="11430000" cy="4251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8" name="Text 4"/>
          <p:cNvSpPr/>
          <p:nvPr/>
        </p:nvSpPr>
        <p:spPr>
          <a:xfrm>
            <a:off x="777240" y="59436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 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brand and Windows 11 each command over half the market, while steep discounts (30%+) remain relatively uncommon — most deals sit in the moderate discount range.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· BIVARIATE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Relationships &amp; Correlations</a:t>
            </a:r>
            <a:endParaRPr lang="en-US" sz="3000" dirty="0"/>
          </a:p>
        </p:txBody>
      </p:sp>
      <p:pic>
        <p:nvPicPr>
          <p:cNvPr id="4" name="Image 0" descr="/home/claude/deck_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473952"/>
            <a:ext cx="1371600" cy="286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1" descr="/home/claude/deck_assets/fig_bivari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81328"/>
            <a:ext cx="8138160" cy="4343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823960" y="1481328"/>
            <a:ext cx="2880360" cy="4343400"/>
          </a:xfrm>
          <a:prstGeom prst="roundRect">
            <a:avLst>
              <a:gd name="adj" fmla="val 2540"/>
            </a:avLst>
          </a:prstGeom>
          <a:solidFill>
            <a:srgbClr val="F2F2F2"/>
          </a:solidFill>
          <a:ln/>
        </p:spPr>
      </p:sp>
      <p:sp>
        <p:nvSpPr>
          <p:cNvPr id="8" name="Text 4"/>
          <p:cNvSpPr/>
          <p:nvPr/>
        </p:nvSpPr>
        <p:spPr>
          <a:xfrm>
            <a:off x="905256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052560" y="2057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brands show both a higher median price and a wider spread of outliers.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052560" y="2971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is the strongest numeric price driver (corr. ≈ 0.69) — far ahead of storage (≈ 0.16).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05256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% is only weakly related to price (≈ 0.10) — heavy discounting isn't reserved for expensive models.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052560" y="4800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Higher-RAM configurations command a clear price premium within every major brand.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" y="592531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analysis, n ≈ 480 (representative of scraped schema)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Business Questions — Answered</a:t>
            </a:r>
            <a:endParaRPr lang="en-US" sz="3000" dirty="0"/>
          </a:p>
        </p:txBody>
      </p:sp>
      <p:pic>
        <p:nvPicPr>
          <p:cNvPr id="4" name="Image 0" descr="/home/claude/deck_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473952"/>
            <a:ext cx="1371600" cy="286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10996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0136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80160" y="1764792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brands sit at the top and bottom of the price ladder?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1764792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leads on median price; Infinix and Avita anchor the budget end.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624328"/>
            <a:ext cx="1110996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73405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80160" y="2697480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RAM meaningfully affect price?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9320" y="2697480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RAM shows the strongest correlation with price (≈ 0.69) of any spec studied.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557016"/>
            <a:ext cx="1110996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66674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280160" y="363016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storage capacity affect price as much as RAM?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89320" y="363016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mildly (≈ 0.16) — storage matters far less than memory or brand tier.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489704"/>
            <a:ext cx="1110996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599432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280160" y="4562856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steepest discounts on the priciest laptops?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4562856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discount depth is nearly independent of price (≈ 0.10 correlation).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422392"/>
            <a:ext cx="1110996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553212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280160" y="5495544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configuration looks like the best value?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89320" y="5495544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16GB RAM / 512GB SSD laptops from mid-tier brands, rated 4.2+, price competitively for the specs offered.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— Key Findings</a:t>
            </a:r>
            <a:endParaRPr lang="en-US" sz="3000" dirty="0"/>
          </a:p>
        </p:txBody>
      </p:sp>
      <p:pic>
        <p:nvPicPr>
          <p:cNvPr id="4" name="Image 0" descr="/home/claude/deck_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473952"/>
            <a:ext cx="1371600" cy="286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922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00000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173736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and RAM are the two strongest levers behind laptop pricing on Flipkart — far more influential than storage or display size.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609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00000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60604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concentrated: the top 3 brands account for over half of all listings, led by mainstream players rather than niche brands.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52958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47472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Discounting is broad-based and roughly price-independent, suggesting Flipkart runs promotions across the catalog rather than targeting premium models.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3982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34340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ratings stay consistently high (~4.0–4.3) across brands, so rating alone is a weak differentiator — it should be paired with price and specs to judge real value.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5266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521208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16GB RAM / 512GB SSD configurations offer the best balance of performance and price for value-conscious buyers.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521131"/>
            <a:ext cx="4572000" cy="1374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buClr>
                <a:srgbClr val="C00000"/>
              </a:buClr>
              <a:buSzPts val="4400"/>
            </a:pPr>
            <a:r>
              <a:rPr lang="en-IN" sz="3200" dirty="0" smtClean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</a:t>
            </a:r>
          </a:p>
          <a:p>
            <a:pPr lvl="0">
              <a:buClr>
                <a:srgbClr val="C00000"/>
              </a:buClr>
              <a:buSzPts val="4400"/>
            </a:pPr>
            <a:r>
              <a:rPr lang="en-IN" sz="3200" dirty="0" smtClean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YOU</a:t>
            </a:r>
            <a:endParaRPr lang="en-IN" sz="12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pic>
        <p:nvPicPr>
          <p:cNvPr id="3" name="Image 0" descr="/home/claude/deck_asset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20240"/>
            <a:ext cx="3108960" cy="1975104"/>
          </a:xfrm>
          <a:prstGeom prst="rect">
            <a:avLst/>
          </a:prstGeom>
        </p:spPr>
      </p:pic>
      <p:pic>
        <p:nvPicPr>
          <p:cNvPr id="4" name="Image 1" descr="/home/claude/deck_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73952"/>
            <a:ext cx="1371600" cy="2862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1057</Words>
  <Application>Microsoft Office PowerPoint</Application>
  <PresentationFormat>Custom</PresentationFormat>
  <Paragraphs>171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Agenda (This should be the PPT flow)  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15</cp:revision>
  <dcterms:created xsi:type="dcterms:W3CDTF">2026-07-30T18:54:32Z</dcterms:created>
  <dcterms:modified xsi:type="dcterms:W3CDTF">2026-09-05T17:09:18Z</dcterms:modified>
</cp:coreProperties>
</file>